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91" r:id="rId3"/>
    <p:sldId id="293" r:id="rId4"/>
    <p:sldId id="294" r:id="rId5"/>
    <p:sldId id="295" r:id="rId6"/>
    <p:sldId id="292" r:id="rId7"/>
    <p:sldId id="296" r:id="rId8"/>
    <p:sldId id="297" r:id="rId9"/>
    <p:sldId id="298" r:id="rId10"/>
    <p:sldId id="258" r:id="rId11"/>
    <p:sldId id="257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2" r:id="rId24"/>
    <p:sldId id="271" r:id="rId25"/>
    <p:sldId id="273" r:id="rId26"/>
    <p:sldId id="274" r:id="rId27"/>
    <p:sldId id="275" r:id="rId28"/>
    <p:sldId id="283" r:id="rId29"/>
    <p:sldId id="276" r:id="rId30"/>
    <p:sldId id="284" r:id="rId31"/>
    <p:sldId id="277" r:id="rId32"/>
    <p:sldId id="285" r:id="rId33"/>
    <p:sldId id="278" r:id="rId34"/>
    <p:sldId id="286" r:id="rId35"/>
    <p:sldId id="279" r:id="rId36"/>
    <p:sldId id="287" r:id="rId37"/>
    <p:sldId id="280" r:id="rId38"/>
    <p:sldId id="288" r:id="rId39"/>
    <p:sldId id="281" r:id="rId40"/>
    <p:sldId id="289" r:id="rId41"/>
    <p:sldId id="282" r:id="rId42"/>
    <p:sldId id="290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102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354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99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24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7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48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73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6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63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957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589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51281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129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9852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420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9029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79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BCC82-315C-4540-AF1F-BCC11446105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13922B-23D8-4E25-BA92-BA343D1950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7352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1276A-996F-43DE-AE34-46DE044F71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SHIPPOP</a:t>
            </a:r>
            <a:br>
              <a:rPr lang="en-US" dirty="0"/>
            </a:br>
            <a:r>
              <a:rPr lang="en-US" dirty="0"/>
              <a:t>TEST 2 : Q.2 – Q.3 ,Q.5 – Q.17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94E63-5204-485B-898C-FDA725B53EE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Chatchai </a:t>
            </a:r>
            <a:r>
              <a:rPr lang="en-US" dirty="0" err="1"/>
              <a:t>Chaiprasopphon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9092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4170636" y="2967335"/>
            <a:ext cx="38507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2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99216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BA4A-7011-4CF3-BE3E-3778AF92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(2.1)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A7D0D-46A2-40E8-B6F2-55C2CF5C3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10200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5FCEE5-61CD-4458-A946-74D13469A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537" y="341864"/>
            <a:ext cx="483870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40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2DC4-D3E4-4CF5-8091-4D7620FF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(2.2.1)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78113-BA5B-4E1F-83BB-90324D2D7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B2787-65E2-4F69-B54D-99B0562EF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172" y="744538"/>
            <a:ext cx="4962525" cy="1428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938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722DC4-D3E4-4CF5-8091-4D7620FFE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(2.2.2)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78113-BA5B-4E1F-83BB-90324D2D7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Average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2F3E39-F9C2-48A0-AE97-19CDE1C5D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6457" y="944563"/>
            <a:ext cx="7757048" cy="130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36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4170636" y="2967335"/>
            <a:ext cx="38507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3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938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BA4A-7011-4CF3-BE3E-3778AF92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(3.1)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A7D0D-46A2-40E8-B6F2-55C2CF5C3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15300</a:t>
            </a:r>
          </a:p>
          <a:p>
            <a:pPr marL="0" indent="0">
              <a:buNone/>
            </a:pPr>
            <a:r>
              <a:rPr lang="en-US" dirty="0"/>
              <a:t>20300</a:t>
            </a:r>
          </a:p>
          <a:p>
            <a:pPr marL="0" indent="0">
              <a:buNone/>
            </a:pPr>
            <a:r>
              <a:rPr lang="en-US" dirty="0"/>
              <a:t>30300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5FCEE5-61CD-4458-A946-74D13469A4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5224" y="3696307"/>
            <a:ext cx="4838700" cy="2543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39F079-E352-41BE-B188-E084E2239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1349" y="1357803"/>
            <a:ext cx="5362575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827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BA4A-7011-4CF3-BE3E-3778AF92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(3.2.1)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A7D0D-46A2-40E8-B6F2-55C2CF5C3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echo $marks[“</a:t>
            </a:r>
            <a:r>
              <a:rPr lang="en-US" dirty="0" err="1">
                <a:solidFill>
                  <a:schemeClr val="bg1"/>
                </a:solidFill>
              </a:rPr>
              <a:t>mohammad</a:t>
            </a:r>
            <a:r>
              <a:rPr lang="en-US" dirty="0"/>
              <a:t>”][“</a:t>
            </a:r>
            <a:r>
              <a:rPr lang="en-US" dirty="0">
                <a:solidFill>
                  <a:schemeClr val="bg1"/>
                </a:solidFill>
              </a:rPr>
              <a:t>physics</a:t>
            </a:r>
            <a:r>
              <a:rPr lang="en-US" dirty="0"/>
              <a:t>”];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B46694-A689-45E7-B201-266496AD9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832" y="142875"/>
            <a:ext cx="2247900" cy="32861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A2FF17-7A78-47D9-BF57-5F41EE6FF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332" y="142875"/>
            <a:ext cx="4762500" cy="266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518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BA4A-7011-4CF3-BE3E-3778AF92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(3.2.2)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A7D0D-46A2-40E8-B6F2-55C2CF5C3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2097088"/>
            <a:ext cx="7591770" cy="46180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echo $marks["</a:t>
            </a:r>
            <a:r>
              <a:rPr lang="en-US" dirty="0" err="1">
                <a:solidFill>
                  <a:schemeClr val="bg1"/>
                </a:solidFill>
              </a:rPr>
              <a:t>mohammad</a:t>
            </a:r>
            <a:r>
              <a:rPr lang="en-US" dirty="0"/>
              <a:t>"]["</a:t>
            </a:r>
            <a:r>
              <a:rPr lang="en-US" dirty="0">
                <a:solidFill>
                  <a:schemeClr val="bg1"/>
                </a:solidFill>
              </a:rPr>
              <a:t>physics</a:t>
            </a:r>
            <a:r>
              <a:rPr lang="en-US" dirty="0"/>
              <a:t>"]."&amp;</a:t>
            </a:r>
            <a:r>
              <a:rPr lang="en-US" dirty="0" err="1"/>
              <a:t>nbsp</a:t>
            </a:r>
            <a:r>
              <a:rPr lang="en-US" dirty="0"/>
              <a:t>".$marks["</a:t>
            </a:r>
            <a:r>
              <a:rPr lang="en-US" dirty="0" err="1">
                <a:solidFill>
                  <a:schemeClr val="bg1"/>
                </a:solidFill>
              </a:rPr>
              <a:t>mohammad</a:t>
            </a:r>
            <a:r>
              <a:rPr lang="en-US" dirty="0"/>
              <a:t>"]["</a:t>
            </a:r>
            <a:r>
              <a:rPr lang="en-US" dirty="0" err="1">
                <a:solidFill>
                  <a:schemeClr val="bg1"/>
                </a:solidFill>
              </a:rPr>
              <a:t>maths</a:t>
            </a:r>
            <a:r>
              <a:rPr lang="en-US" dirty="0"/>
              <a:t>"]."&amp;</a:t>
            </a:r>
            <a:r>
              <a:rPr lang="en-US" dirty="0" err="1"/>
              <a:t>nbsp</a:t>
            </a:r>
            <a:r>
              <a:rPr lang="en-US" dirty="0"/>
              <a:t>".$marks["</a:t>
            </a:r>
            <a:r>
              <a:rPr lang="en-US" dirty="0" err="1">
                <a:solidFill>
                  <a:schemeClr val="bg1"/>
                </a:solidFill>
              </a:rPr>
              <a:t>mohammad</a:t>
            </a:r>
            <a:r>
              <a:rPr lang="en-US" dirty="0"/>
              <a:t>"]["</a:t>
            </a:r>
            <a:r>
              <a:rPr lang="en-US" dirty="0">
                <a:solidFill>
                  <a:schemeClr val="bg1"/>
                </a:solidFill>
              </a:rPr>
              <a:t>chemistry</a:t>
            </a:r>
            <a:r>
              <a:rPr lang="en-US" dirty="0"/>
              <a:t>"]."&amp;</a:t>
            </a:r>
            <a:r>
              <a:rPr lang="en-US" dirty="0" err="1"/>
              <a:t>nbsp</a:t>
            </a:r>
            <a:r>
              <a:rPr lang="en-US" dirty="0"/>
              <a:t>".$marks["</a:t>
            </a:r>
            <a:r>
              <a:rPr lang="en-US" dirty="0" err="1">
                <a:solidFill>
                  <a:schemeClr val="bg1"/>
                </a:solidFill>
              </a:rPr>
              <a:t>qadir</a:t>
            </a:r>
            <a:r>
              <a:rPr lang="en-US" dirty="0"/>
              <a:t>"]["physics"]."&amp;</a:t>
            </a:r>
            <a:r>
              <a:rPr lang="en-US" dirty="0" err="1"/>
              <a:t>nbsp</a:t>
            </a:r>
            <a:r>
              <a:rPr lang="en-US" dirty="0"/>
              <a:t>".$marks["</a:t>
            </a:r>
            <a:r>
              <a:rPr lang="en-US" dirty="0" err="1">
                <a:solidFill>
                  <a:schemeClr val="bg1"/>
                </a:solidFill>
              </a:rPr>
              <a:t>qadir</a:t>
            </a:r>
            <a:r>
              <a:rPr lang="en-US" dirty="0"/>
              <a:t>"]["</a:t>
            </a:r>
            <a:r>
              <a:rPr lang="en-US" dirty="0" err="1">
                <a:solidFill>
                  <a:schemeClr val="bg1"/>
                </a:solidFill>
              </a:rPr>
              <a:t>maths</a:t>
            </a:r>
            <a:r>
              <a:rPr lang="en-US" dirty="0"/>
              <a:t>"]."&amp;</a:t>
            </a:r>
            <a:r>
              <a:rPr lang="en-US" dirty="0" err="1"/>
              <a:t>nbsp</a:t>
            </a:r>
            <a:r>
              <a:rPr lang="en-US" dirty="0"/>
              <a:t>".$marks["</a:t>
            </a:r>
            <a:r>
              <a:rPr lang="en-US" dirty="0" err="1">
                <a:solidFill>
                  <a:schemeClr val="bg1"/>
                </a:solidFill>
              </a:rPr>
              <a:t>qadir</a:t>
            </a:r>
            <a:r>
              <a:rPr lang="en-US" dirty="0"/>
              <a:t>"]["</a:t>
            </a:r>
            <a:r>
              <a:rPr lang="en-US" dirty="0">
                <a:solidFill>
                  <a:schemeClr val="bg1"/>
                </a:solidFill>
              </a:rPr>
              <a:t>chemistry</a:t>
            </a:r>
            <a:r>
              <a:rPr lang="en-US" dirty="0"/>
              <a:t>"]."&amp;</a:t>
            </a:r>
            <a:r>
              <a:rPr lang="en-US" dirty="0" err="1"/>
              <a:t>nbsp</a:t>
            </a:r>
            <a:r>
              <a:rPr lang="en-US" dirty="0"/>
              <a:t>".$marks["</a:t>
            </a:r>
            <a:r>
              <a:rPr lang="en-US" dirty="0" err="1">
                <a:solidFill>
                  <a:schemeClr val="bg1"/>
                </a:solidFill>
              </a:rPr>
              <a:t>zara</a:t>
            </a:r>
            <a:r>
              <a:rPr lang="en-US" dirty="0"/>
              <a:t>"]["</a:t>
            </a:r>
            <a:r>
              <a:rPr lang="en-US" dirty="0">
                <a:solidFill>
                  <a:schemeClr val="bg1"/>
                </a:solidFill>
              </a:rPr>
              <a:t>physics</a:t>
            </a:r>
            <a:r>
              <a:rPr lang="en-US" dirty="0"/>
              <a:t>"]."&amp;</a:t>
            </a:r>
            <a:r>
              <a:rPr lang="en-US" dirty="0" err="1"/>
              <a:t>nbsp</a:t>
            </a:r>
            <a:r>
              <a:rPr lang="en-US" dirty="0"/>
              <a:t>".$marks["</a:t>
            </a:r>
            <a:r>
              <a:rPr lang="en-US" dirty="0" err="1">
                <a:solidFill>
                  <a:schemeClr val="bg1"/>
                </a:solidFill>
              </a:rPr>
              <a:t>zara</a:t>
            </a:r>
            <a:r>
              <a:rPr lang="en-US" dirty="0"/>
              <a:t>"]["</a:t>
            </a:r>
            <a:r>
              <a:rPr lang="en-US" dirty="0" err="1">
                <a:solidFill>
                  <a:schemeClr val="bg1"/>
                </a:solidFill>
              </a:rPr>
              <a:t>maths</a:t>
            </a:r>
            <a:r>
              <a:rPr lang="en-US" dirty="0"/>
              <a:t>"]."&amp;</a:t>
            </a:r>
            <a:r>
              <a:rPr lang="en-US" dirty="0" err="1"/>
              <a:t>nbsp</a:t>
            </a:r>
            <a:r>
              <a:rPr lang="en-US" dirty="0"/>
              <a:t>".$marks["</a:t>
            </a:r>
            <a:r>
              <a:rPr lang="en-US" dirty="0" err="1">
                <a:solidFill>
                  <a:schemeClr val="bg1"/>
                </a:solidFill>
              </a:rPr>
              <a:t>zara</a:t>
            </a:r>
            <a:r>
              <a:rPr lang="en-US" dirty="0"/>
              <a:t>"]["</a:t>
            </a:r>
            <a:r>
              <a:rPr lang="en-US" dirty="0">
                <a:solidFill>
                  <a:schemeClr val="bg1"/>
                </a:solidFill>
              </a:rPr>
              <a:t>chemistry</a:t>
            </a:r>
            <a:r>
              <a:rPr lang="en-US" dirty="0"/>
              <a:t>"];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B46694-A689-45E7-B201-266496AD96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2832" y="142875"/>
            <a:ext cx="2247900" cy="32861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1C94B2F-AFC6-4885-AE26-6B64B03CB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132" y="142875"/>
            <a:ext cx="44577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06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4170636" y="2967335"/>
            <a:ext cx="38507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5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30842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3B5A2-2235-48CE-89E6-C865A24F4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(5.1)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155AB637-2F39-4AD5-96BB-8462D5D64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52065"/>
              </p:ext>
            </p:extLst>
          </p:nvPr>
        </p:nvGraphicFramePr>
        <p:xfrm>
          <a:off x="7591771" y="3488456"/>
          <a:ext cx="2610678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121">
                  <a:extLst>
                    <a:ext uri="{9D8B030D-6E8A-4147-A177-3AD203B41FA5}">
                      <a16:colId xmlns:a16="http://schemas.microsoft.com/office/drawing/2014/main" val="2610973680"/>
                    </a:ext>
                  </a:extLst>
                </a:gridCol>
                <a:gridCol w="1868557">
                  <a:extLst>
                    <a:ext uri="{9D8B030D-6E8A-4147-A177-3AD203B41FA5}">
                      <a16:colId xmlns:a16="http://schemas.microsoft.com/office/drawing/2014/main" val="243526200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Employee_Fact</a:t>
                      </a:r>
                      <a:endParaRPr 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106162"/>
                  </a:ext>
                </a:extLst>
              </a:tr>
              <a:tr h="3670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: </a:t>
                      </a:r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Employee_ID</a:t>
                      </a:r>
                      <a:endParaRPr lang="en-US" dirty="0"/>
                    </a:p>
                    <a:p>
                      <a:pPr algn="ctr"/>
                      <a:r>
                        <a:rPr lang="en-US" dirty="0" err="1"/>
                        <a:t>Country_Code</a:t>
                      </a:r>
                      <a:endParaRPr lang="en-US" dirty="0"/>
                    </a:p>
                    <a:p>
                      <a:pPr algn="ctr"/>
                      <a:r>
                        <a:rPr lang="en-US" dirty="0" err="1"/>
                        <a:t>Position_Code</a:t>
                      </a:r>
                      <a:endParaRPr lang="en-US" dirty="0"/>
                    </a:p>
                  </a:txBody>
                  <a:tcPr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50038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468811"/>
                  </a:ext>
                </a:extLst>
              </a:tr>
            </a:tbl>
          </a:graphicData>
        </a:graphic>
      </p:graphicFrame>
      <p:graphicFrame>
        <p:nvGraphicFramePr>
          <p:cNvPr id="9" name="Table 6">
            <a:extLst>
              <a:ext uri="{FF2B5EF4-FFF2-40B4-BE49-F238E27FC236}">
                <a16:creationId xmlns:a16="http://schemas.microsoft.com/office/drawing/2014/main" id="{697A6A5B-274D-49F6-8645-44909E30B0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2313912"/>
              </p:ext>
            </p:extLst>
          </p:nvPr>
        </p:nvGraphicFramePr>
        <p:xfrm>
          <a:off x="1989553" y="5356077"/>
          <a:ext cx="2610678" cy="11086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2121">
                  <a:extLst>
                    <a:ext uri="{9D8B030D-6E8A-4147-A177-3AD203B41FA5}">
                      <a16:colId xmlns:a16="http://schemas.microsoft.com/office/drawing/2014/main" val="2610973680"/>
                    </a:ext>
                  </a:extLst>
                </a:gridCol>
                <a:gridCol w="1868557">
                  <a:extLst>
                    <a:ext uri="{9D8B030D-6E8A-4147-A177-3AD203B41FA5}">
                      <a16:colId xmlns:a16="http://schemas.microsoft.com/office/drawing/2014/main" val="243526200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Country_Dim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106162"/>
                  </a:ext>
                </a:extLst>
              </a:tr>
              <a:tr h="3670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: 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Country_Code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50038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Country_Name</a:t>
                      </a:r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468811"/>
                  </a:ext>
                </a:extLst>
              </a:tr>
            </a:tbl>
          </a:graphicData>
        </a:graphic>
      </p:graphicFrame>
      <p:graphicFrame>
        <p:nvGraphicFramePr>
          <p:cNvPr id="11" name="Table 6">
            <a:extLst>
              <a:ext uri="{FF2B5EF4-FFF2-40B4-BE49-F238E27FC236}">
                <a16:creationId xmlns:a16="http://schemas.microsoft.com/office/drawing/2014/main" id="{C91AFD89-C571-44EA-815E-0DA12DC4F1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1183251"/>
              </p:ext>
            </p:extLst>
          </p:nvPr>
        </p:nvGraphicFramePr>
        <p:xfrm>
          <a:off x="1989553" y="3762150"/>
          <a:ext cx="2610678" cy="11086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2121">
                  <a:extLst>
                    <a:ext uri="{9D8B030D-6E8A-4147-A177-3AD203B41FA5}">
                      <a16:colId xmlns:a16="http://schemas.microsoft.com/office/drawing/2014/main" val="2610973680"/>
                    </a:ext>
                  </a:extLst>
                </a:gridCol>
                <a:gridCol w="1868557">
                  <a:extLst>
                    <a:ext uri="{9D8B030D-6E8A-4147-A177-3AD203B41FA5}">
                      <a16:colId xmlns:a16="http://schemas.microsoft.com/office/drawing/2014/main" val="243526200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Position_Dim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106162"/>
                  </a:ext>
                </a:extLst>
              </a:tr>
              <a:tr h="3670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: 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Position_Code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50038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Position_Name</a:t>
                      </a:r>
                      <a:endParaRPr lang="en-US" dirty="0"/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468811"/>
                  </a:ext>
                </a:extLst>
              </a:tr>
            </a:tbl>
          </a:graphicData>
        </a:graphic>
      </p:graphicFrame>
      <p:graphicFrame>
        <p:nvGraphicFramePr>
          <p:cNvPr id="13" name="Table 6">
            <a:extLst>
              <a:ext uri="{FF2B5EF4-FFF2-40B4-BE49-F238E27FC236}">
                <a16:creationId xmlns:a16="http://schemas.microsoft.com/office/drawing/2014/main" id="{A19D41BB-A337-401D-BA49-15F8F2FE5E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000507"/>
              </p:ext>
            </p:extLst>
          </p:nvPr>
        </p:nvGraphicFramePr>
        <p:xfrm>
          <a:off x="1989553" y="2168224"/>
          <a:ext cx="2610678" cy="110869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42121">
                  <a:extLst>
                    <a:ext uri="{9D8B030D-6E8A-4147-A177-3AD203B41FA5}">
                      <a16:colId xmlns:a16="http://schemas.microsoft.com/office/drawing/2014/main" val="2610973680"/>
                    </a:ext>
                  </a:extLst>
                </a:gridCol>
                <a:gridCol w="1868557">
                  <a:extLst>
                    <a:ext uri="{9D8B030D-6E8A-4147-A177-3AD203B41FA5}">
                      <a16:colId xmlns:a16="http://schemas.microsoft.com/office/drawing/2014/main" val="2435262009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Employee_Detail_Dim</a:t>
                      </a:r>
                      <a:endParaRPr 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2106162"/>
                  </a:ext>
                </a:extLst>
              </a:tr>
              <a:tr h="36701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KEY : </a:t>
                      </a: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Employee_ID</a:t>
                      </a:r>
                      <a:endParaRPr lang="en-US" dirty="0"/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50038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Address</a:t>
                      </a:r>
                    </a:p>
                  </a:txBody>
                  <a:tcPr anchor="ctr">
                    <a:solidFill>
                      <a:schemeClr val="tx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49468811"/>
                  </a:ext>
                </a:extLst>
              </a:tr>
            </a:tbl>
          </a:graphicData>
        </a:graphic>
      </p:graphicFrame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295195-5C93-4767-ACB6-3DF3A2BD51A2}"/>
              </a:ext>
            </a:extLst>
          </p:cNvPr>
          <p:cNvCxnSpPr/>
          <p:nvPr/>
        </p:nvCxnSpPr>
        <p:spPr>
          <a:xfrm>
            <a:off x="4600231" y="2709317"/>
            <a:ext cx="344383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130D889-9423-4DB4-8557-C1AE02B32C51}"/>
              </a:ext>
            </a:extLst>
          </p:cNvPr>
          <p:cNvCxnSpPr>
            <a:cxnSpLocks/>
          </p:cNvCxnSpPr>
          <p:nvPr/>
        </p:nvCxnSpPr>
        <p:spPr>
          <a:xfrm>
            <a:off x="8044070" y="2722570"/>
            <a:ext cx="0" cy="74390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6EAF396-1FA8-4ADA-87FE-DDFCDDE2F0B1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600231" y="4316496"/>
            <a:ext cx="299154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E2914BE-FF63-40DD-8B4E-269374C1491F}"/>
              </a:ext>
            </a:extLst>
          </p:cNvPr>
          <p:cNvCxnSpPr>
            <a:cxnSpLocks/>
          </p:cNvCxnSpPr>
          <p:nvPr/>
        </p:nvCxnSpPr>
        <p:spPr>
          <a:xfrm>
            <a:off x="7421215" y="4442391"/>
            <a:ext cx="1689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97248B-E251-418B-8027-559D25587778}"/>
              </a:ext>
            </a:extLst>
          </p:cNvPr>
          <p:cNvCxnSpPr>
            <a:cxnSpLocks/>
          </p:cNvCxnSpPr>
          <p:nvPr/>
        </p:nvCxnSpPr>
        <p:spPr>
          <a:xfrm>
            <a:off x="7421216" y="4170928"/>
            <a:ext cx="16896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9ADE737-88ED-47B7-AC5A-EB1C0BE6EFCD}"/>
              </a:ext>
            </a:extLst>
          </p:cNvPr>
          <p:cNvCxnSpPr>
            <a:cxnSpLocks/>
          </p:cNvCxnSpPr>
          <p:nvPr/>
        </p:nvCxnSpPr>
        <p:spPr>
          <a:xfrm flipH="1">
            <a:off x="7419626" y="4170928"/>
            <a:ext cx="1589" cy="271463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FA3DCC9-859A-470B-830F-9A6C6DB3589F}"/>
              </a:ext>
            </a:extLst>
          </p:cNvPr>
          <p:cNvCxnSpPr>
            <a:cxnSpLocks/>
          </p:cNvCxnSpPr>
          <p:nvPr/>
        </p:nvCxnSpPr>
        <p:spPr>
          <a:xfrm>
            <a:off x="4600231" y="5910423"/>
            <a:ext cx="3443839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69A1877-062F-4DFC-81AC-02D5C5B03787}"/>
              </a:ext>
            </a:extLst>
          </p:cNvPr>
          <p:cNvCxnSpPr>
            <a:cxnSpLocks/>
          </p:cNvCxnSpPr>
          <p:nvPr/>
        </p:nvCxnSpPr>
        <p:spPr>
          <a:xfrm>
            <a:off x="8044070" y="5144536"/>
            <a:ext cx="0" cy="76588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A47E97B-97A7-4093-B78D-79815228D181}"/>
              </a:ext>
            </a:extLst>
          </p:cNvPr>
          <p:cNvCxnSpPr>
            <a:cxnSpLocks/>
          </p:cNvCxnSpPr>
          <p:nvPr/>
        </p:nvCxnSpPr>
        <p:spPr>
          <a:xfrm flipV="1">
            <a:off x="7934325" y="5144536"/>
            <a:ext cx="0" cy="2115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F16A3D0-B091-4ABB-897D-21C1ED9EA751}"/>
              </a:ext>
            </a:extLst>
          </p:cNvPr>
          <p:cNvCxnSpPr>
            <a:cxnSpLocks/>
          </p:cNvCxnSpPr>
          <p:nvPr/>
        </p:nvCxnSpPr>
        <p:spPr>
          <a:xfrm flipV="1">
            <a:off x="8172450" y="5144536"/>
            <a:ext cx="0" cy="21153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0B5DEF-8030-418F-BF2F-28802D467123}"/>
              </a:ext>
            </a:extLst>
          </p:cNvPr>
          <p:cNvCxnSpPr>
            <a:cxnSpLocks/>
          </p:cNvCxnSpPr>
          <p:nvPr/>
        </p:nvCxnSpPr>
        <p:spPr>
          <a:xfrm>
            <a:off x="7934325" y="5356075"/>
            <a:ext cx="238125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0639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C48758C-7FAD-4C3C-A4AD-F0C396038F2B}"/>
              </a:ext>
            </a:extLst>
          </p:cNvPr>
          <p:cNvSpPr/>
          <p:nvPr/>
        </p:nvSpPr>
        <p:spPr>
          <a:xfrm>
            <a:off x="8481391" y="-1"/>
            <a:ext cx="3710609" cy="25952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2A3AE3-0994-47BB-BC25-01DCBE5C6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(5.2)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218D19-5786-4729-8D33-EB8D041B9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INSERT INTO </a:t>
            </a:r>
            <a:r>
              <a:rPr lang="en-US" dirty="0" err="1"/>
              <a:t>Country_Dim</a:t>
            </a:r>
            <a:r>
              <a:rPr lang="en-US" dirty="0"/>
              <a:t> (</a:t>
            </a:r>
            <a:r>
              <a:rPr lang="en-US" dirty="0" err="1"/>
              <a:t>Country_Code</a:t>
            </a:r>
            <a:r>
              <a:rPr lang="en-US" dirty="0"/>
              <a:t>,  </a:t>
            </a:r>
            <a:r>
              <a:rPr lang="en-US" dirty="0" err="1"/>
              <a:t>Country_Name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VALUES</a:t>
            </a:r>
            <a:r>
              <a:rPr lang="en-US" dirty="0"/>
              <a:t> (5,</a:t>
            </a:r>
            <a:r>
              <a:rPr lang="th-TH" dirty="0"/>
              <a:t> </a:t>
            </a:r>
            <a:r>
              <a:rPr lang="en-US" dirty="0"/>
              <a:t>‘</a:t>
            </a:r>
            <a:r>
              <a:rPr lang="th-TH" dirty="0"/>
              <a:t>เชียงใหม่</a:t>
            </a:r>
            <a:r>
              <a:rPr lang="en-US" dirty="0"/>
              <a:t>’)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dirty="0"/>
              <a:t> (6,</a:t>
            </a:r>
            <a:r>
              <a:rPr lang="th-TH" dirty="0"/>
              <a:t> </a:t>
            </a:r>
            <a:r>
              <a:rPr lang="en-US" dirty="0"/>
              <a:t>‘</a:t>
            </a:r>
            <a:r>
              <a:rPr lang="th-TH" dirty="0"/>
              <a:t>เชียงราย</a:t>
            </a:r>
            <a:r>
              <a:rPr lang="en-US" dirty="0"/>
              <a:t>’)</a:t>
            </a:r>
            <a:r>
              <a:rPr lang="en-US" dirty="0">
                <a:solidFill>
                  <a:schemeClr val="bg1"/>
                </a:solidFill>
              </a:rPr>
              <a:t>,</a:t>
            </a:r>
            <a:r>
              <a:rPr lang="en-US" dirty="0"/>
              <a:t> (7,</a:t>
            </a:r>
            <a:r>
              <a:rPr lang="th-TH" dirty="0"/>
              <a:t> </a:t>
            </a:r>
            <a:r>
              <a:rPr lang="en-US" dirty="0"/>
              <a:t>‘</a:t>
            </a:r>
            <a:r>
              <a:rPr lang="th-TH" dirty="0"/>
              <a:t>ภูเก็ต</a:t>
            </a:r>
            <a:r>
              <a:rPr lang="en-US" dirty="0"/>
              <a:t>’)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5A0CE47-707B-4B81-BA25-444934981D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5663641"/>
              </p:ext>
            </p:extLst>
          </p:nvPr>
        </p:nvGraphicFramePr>
        <p:xfrm>
          <a:off x="8666922" y="638463"/>
          <a:ext cx="33478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949">
                  <a:extLst>
                    <a:ext uri="{9D8B030D-6E8A-4147-A177-3AD203B41FA5}">
                      <a16:colId xmlns:a16="http://schemas.microsoft.com/office/drawing/2014/main" val="126872637"/>
                    </a:ext>
                  </a:extLst>
                </a:gridCol>
                <a:gridCol w="1673949">
                  <a:extLst>
                    <a:ext uri="{9D8B030D-6E8A-4147-A177-3AD203B41FA5}">
                      <a16:colId xmlns:a16="http://schemas.microsoft.com/office/drawing/2014/main" val="4030550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Country_Code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Country_Name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236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กรุงเทพ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45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ระยอง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303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เลย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493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ปัตตานี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535003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B070063E-F406-4D09-8C83-FDF2033E9D84}"/>
              </a:ext>
            </a:extLst>
          </p:cNvPr>
          <p:cNvSpPr/>
          <p:nvPr/>
        </p:nvSpPr>
        <p:spPr>
          <a:xfrm>
            <a:off x="8981557" y="0"/>
            <a:ext cx="271862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Country_Dim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85067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B812-F890-400A-A13C-F65C7099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(5.3)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B0F33-D84B-4619-A91D-D0D65FA65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DELETE FROM </a:t>
            </a:r>
            <a:r>
              <a:rPr lang="en-US" dirty="0" err="1"/>
              <a:t>Position_Dim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/>
              <a:t>Position_Name</a:t>
            </a:r>
            <a:r>
              <a:rPr lang="en-US" dirty="0"/>
              <a:t> = ‘sale’</a:t>
            </a:r>
            <a:r>
              <a:rPr lang="en-US" dirty="0">
                <a:solidFill>
                  <a:schemeClr val="bg1"/>
                </a:solidFill>
              </a:rPr>
              <a:t>;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045818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FB812-F890-400A-A13C-F65C70994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(5.4)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B0F33-D84B-4619-A91D-D0D65FA65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UPDATE</a:t>
            </a:r>
            <a:r>
              <a:rPr lang="en-US" dirty="0"/>
              <a:t> </a:t>
            </a:r>
            <a:r>
              <a:rPr lang="en-US" dirty="0" err="1"/>
              <a:t>Country_Dim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SET</a:t>
            </a:r>
            <a:r>
              <a:rPr lang="en-US" dirty="0"/>
              <a:t> </a:t>
            </a:r>
            <a:r>
              <a:rPr lang="en-US" dirty="0" err="1"/>
              <a:t>Country_Name</a:t>
            </a:r>
            <a:r>
              <a:rPr lang="en-US" dirty="0"/>
              <a:t> = ‘</a:t>
            </a:r>
            <a:r>
              <a:rPr lang="th-TH" dirty="0"/>
              <a:t>นราธิวาส</a:t>
            </a:r>
            <a:r>
              <a:rPr lang="en-US" dirty="0"/>
              <a:t>’</a:t>
            </a:r>
            <a:endParaRPr lang="th-TH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WHERE</a:t>
            </a:r>
            <a:r>
              <a:rPr lang="en-US" dirty="0"/>
              <a:t> </a:t>
            </a:r>
            <a:r>
              <a:rPr lang="en-US" dirty="0" err="1"/>
              <a:t>Country_Code</a:t>
            </a:r>
            <a:r>
              <a:rPr lang="en-US" dirty="0"/>
              <a:t> = 4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52B11-90C2-4E8E-A9B3-D748C333ABC2}"/>
              </a:ext>
            </a:extLst>
          </p:cNvPr>
          <p:cNvSpPr/>
          <p:nvPr/>
        </p:nvSpPr>
        <p:spPr>
          <a:xfrm>
            <a:off x="8481391" y="-1"/>
            <a:ext cx="3710609" cy="259529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01D6DA86-3190-45AE-BCE6-6FE6B9641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0715175"/>
              </p:ext>
            </p:extLst>
          </p:nvPr>
        </p:nvGraphicFramePr>
        <p:xfrm>
          <a:off x="8666922" y="638463"/>
          <a:ext cx="3347898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3949">
                  <a:extLst>
                    <a:ext uri="{9D8B030D-6E8A-4147-A177-3AD203B41FA5}">
                      <a16:colId xmlns:a16="http://schemas.microsoft.com/office/drawing/2014/main" val="126872637"/>
                    </a:ext>
                  </a:extLst>
                </a:gridCol>
                <a:gridCol w="1673949">
                  <a:extLst>
                    <a:ext uri="{9D8B030D-6E8A-4147-A177-3AD203B41FA5}">
                      <a16:colId xmlns:a16="http://schemas.microsoft.com/office/drawing/2014/main" val="40305504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Country_Code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Country_Name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62365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กรุงเทพ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451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ระยอง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1303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เลย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4493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th-TH" dirty="0"/>
                        <a:t>ปัตตานี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9535003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C749CB8-8CB6-4083-ABE4-7835B40AE8A9}"/>
              </a:ext>
            </a:extLst>
          </p:cNvPr>
          <p:cNvSpPr/>
          <p:nvPr/>
        </p:nvSpPr>
        <p:spPr>
          <a:xfrm>
            <a:off x="8981557" y="0"/>
            <a:ext cx="271862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dirty="0" err="1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Country_Dim</a:t>
            </a:r>
            <a:endParaRPr lang="en-US" sz="3600" b="1" dirty="0">
              <a:ln w="9525">
                <a:solidFill>
                  <a:schemeClr val="bg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724835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BA4A-7011-4CF3-BE3E-3778AF92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(5.5)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A7D0D-46A2-40E8-B6F2-55C2CF5C3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SELECT</a:t>
            </a:r>
            <a:r>
              <a:rPr lang="en-US" dirty="0"/>
              <a:t> * </a:t>
            </a:r>
            <a:r>
              <a:rPr lang="en-US" dirty="0">
                <a:solidFill>
                  <a:schemeClr val="bg1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Employee_Fact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0652813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7BA4A-7011-4CF3-BE3E-3778AF929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(5.6)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3A7D0D-46A2-40E8-B6F2-55C2CF5C3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SELECT</a:t>
            </a:r>
            <a:r>
              <a:rPr lang="en-US" dirty="0"/>
              <a:t> * </a:t>
            </a:r>
            <a:r>
              <a:rPr lang="en-US" dirty="0">
                <a:solidFill>
                  <a:schemeClr val="bg1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Employee_Fact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/>
              <a:t>Country_Code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IN </a:t>
            </a:r>
            <a:r>
              <a:rPr lang="en-US" dirty="0"/>
              <a:t>(</a:t>
            </a:r>
            <a:r>
              <a:rPr lang="en-US" dirty="0">
                <a:solidFill>
                  <a:schemeClr val="bg1"/>
                </a:solidFill>
              </a:rPr>
              <a:t>SELECT </a:t>
            </a:r>
            <a:r>
              <a:rPr lang="en-US" dirty="0" err="1"/>
              <a:t>Country_Code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FROM </a:t>
            </a:r>
            <a:r>
              <a:rPr lang="en-US" dirty="0" err="1"/>
              <a:t>Country_Dim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/>
              <a:t>Country_Name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IN </a:t>
            </a:r>
            <a:r>
              <a:rPr lang="en-US" dirty="0"/>
              <a:t>(‘</a:t>
            </a:r>
            <a:r>
              <a:rPr lang="th-TH" dirty="0"/>
              <a:t>กรุงเทพ</a:t>
            </a:r>
            <a:r>
              <a:rPr lang="en-US" dirty="0"/>
              <a:t>’, ‘</a:t>
            </a:r>
            <a:r>
              <a:rPr lang="th-TH" dirty="0"/>
              <a:t>ระยอง</a:t>
            </a:r>
            <a:r>
              <a:rPr lang="en-US" dirty="0"/>
              <a:t>’))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8908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BE754-4139-4AEB-B0DB-905FC362E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5.7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4AB7D-08E6-42F0-B01B-3FA9448C8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SELECT</a:t>
            </a:r>
            <a:r>
              <a:rPr lang="en-US" dirty="0"/>
              <a:t> * </a:t>
            </a:r>
            <a:r>
              <a:rPr lang="en-US" dirty="0">
                <a:solidFill>
                  <a:schemeClr val="bg1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Employee_Fact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/>
              <a:t>Country_Code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IN (SELECT </a:t>
            </a:r>
            <a:r>
              <a:rPr lang="en-US" dirty="0" err="1"/>
              <a:t>Country_Code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FROM </a:t>
            </a:r>
            <a:r>
              <a:rPr lang="en-US" dirty="0" err="1"/>
              <a:t>Country_Dim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/>
              <a:t>Country_Name</a:t>
            </a:r>
            <a:r>
              <a:rPr lang="en-US" dirty="0"/>
              <a:t> = ‘</a:t>
            </a:r>
            <a:r>
              <a:rPr lang="th-TH" dirty="0"/>
              <a:t>เลย</a:t>
            </a:r>
            <a:r>
              <a:rPr lang="en-US" dirty="0"/>
              <a:t>’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AND </a:t>
            </a:r>
            <a:r>
              <a:rPr lang="en-US" dirty="0" err="1"/>
              <a:t>Position_Code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IN (SELECT </a:t>
            </a:r>
            <a:r>
              <a:rPr lang="en-US" dirty="0" err="1"/>
              <a:t>Position_Code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FROM </a:t>
            </a:r>
            <a:r>
              <a:rPr lang="en-US" dirty="0" err="1"/>
              <a:t>Position_Dim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WHERE </a:t>
            </a:r>
            <a:r>
              <a:rPr lang="en-US" dirty="0" err="1"/>
              <a:t>Postion_Name</a:t>
            </a:r>
            <a:r>
              <a:rPr lang="en-US" dirty="0"/>
              <a:t> = ‘programmer’</a:t>
            </a:r>
            <a:r>
              <a:rPr lang="en-US" dirty="0">
                <a:solidFill>
                  <a:schemeClr val="bg1"/>
                </a:solidFill>
              </a:rPr>
              <a:t>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971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5.8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SELECT</a:t>
            </a:r>
            <a:r>
              <a:rPr lang="en-US" dirty="0"/>
              <a:t> </a:t>
            </a:r>
            <a:r>
              <a:rPr lang="en-US" dirty="0" err="1"/>
              <a:t>Employee_Fact.Name</a:t>
            </a:r>
            <a:r>
              <a:rPr lang="en-US" dirty="0"/>
              <a:t>, </a:t>
            </a:r>
            <a:r>
              <a:rPr lang="en-US" dirty="0" err="1"/>
              <a:t>Position_Dim.Position_Name</a:t>
            </a:r>
            <a:r>
              <a:rPr lang="en-US" dirty="0"/>
              <a:t>, </a:t>
            </a:r>
            <a:r>
              <a:rPr lang="en-US" dirty="0" err="1"/>
              <a:t>Country_Dim.Country_Name</a:t>
            </a:r>
            <a:r>
              <a:rPr lang="en-US" dirty="0"/>
              <a:t>  </a:t>
            </a:r>
            <a:r>
              <a:rPr lang="en-US" dirty="0">
                <a:solidFill>
                  <a:schemeClr val="bg1"/>
                </a:solidFill>
              </a:rPr>
              <a:t>FROM</a:t>
            </a:r>
            <a:r>
              <a:rPr lang="en-US" dirty="0"/>
              <a:t> </a:t>
            </a:r>
            <a:r>
              <a:rPr lang="en-US" dirty="0" err="1"/>
              <a:t>Employee_Fact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LEFT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JOIN</a:t>
            </a:r>
            <a:r>
              <a:rPr lang="en-US" dirty="0"/>
              <a:t> </a:t>
            </a:r>
            <a:r>
              <a:rPr lang="en-US" dirty="0" err="1"/>
              <a:t>Position_Dim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Employee_Fact.Position_Code</a:t>
            </a:r>
            <a:r>
              <a:rPr lang="en-US" dirty="0"/>
              <a:t> = </a:t>
            </a:r>
            <a:r>
              <a:rPr lang="en-US" dirty="0" err="1"/>
              <a:t>Position_Dim.Position_Code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LEFT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JOIN</a:t>
            </a:r>
            <a:r>
              <a:rPr lang="en-US" dirty="0"/>
              <a:t> </a:t>
            </a:r>
            <a:r>
              <a:rPr lang="en-US" dirty="0" err="1"/>
              <a:t>Country_Dim</a:t>
            </a:r>
            <a:r>
              <a:rPr lang="en-US" dirty="0"/>
              <a:t> </a:t>
            </a:r>
            <a:r>
              <a:rPr lang="en-US" dirty="0">
                <a:solidFill>
                  <a:schemeClr val="bg1"/>
                </a:solidFill>
              </a:rPr>
              <a:t>ON</a:t>
            </a:r>
            <a:r>
              <a:rPr lang="en-US" dirty="0"/>
              <a:t> </a:t>
            </a:r>
            <a:r>
              <a:rPr lang="en-US" dirty="0" err="1"/>
              <a:t>Employee_Fact.Country_Code</a:t>
            </a:r>
            <a:r>
              <a:rPr lang="en-US" dirty="0"/>
              <a:t> = </a:t>
            </a:r>
            <a:r>
              <a:rPr lang="en-US" dirty="0" err="1"/>
              <a:t>Country_Dim</a:t>
            </a:r>
            <a:r>
              <a:rPr lang="en-US" dirty="0"/>
              <a:t>. </a:t>
            </a:r>
            <a:r>
              <a:rPr lang="en-US" dirty="0" err="1"/>
              <a:t>Country_Code</a:t>
            </a:r>
            <a:r>
              <a:rPr lang="en-US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057074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4170636" y="2967335"/>
            <a:ext cx="38507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6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05802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เนื่องจากส่วนตัวเป็นคนชอบคิด ชอบลงมือทำ ชอบอยู่กับข้อมูล และชอบหาวิธีการใหม่ๆ เพื่อให้งานที่ออกมามีความกระชับมากกว่าเดิม ซึ่งอาชีพโปรแกรมเมอร์สามารถตอบโจทย์ส่วนใหญ่ของสิ่งที่ชอบได้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058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4170636" y="2967335"/>
            <a:ext cx="38507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7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50518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กรณีที่เกิดปัญหาติดขัดระหว่างการเขียนโปรแกรม อาจจะถามคนที่มีความรู้มาก่อนเพื่อลด </a:t>
            </a:r>
            <a:r>
              <a:rPr lang="en-US" dirty="0"/>
              <a:t>Scope </a:t>
            </a:r>
            <a:r>
              <a:rPr lang="th-TH" dirty="0"/>
              <a:t>ในการค้นหา และหลังจากนั้นจึงค้นหาวิธีการแก้ปัญหาจาก </a:t>
            </a:r>
            <a:r>
              <a:rPr lang="en-US" dirty="0"/>
              <a:t>Search Engine</a:t>
            </a:r>
            <a:r>
              <a:rPr lang="th-TH" dirty="0"/>
              <a:t> แล้วจึงค่อยทำการทดลองเขียน </a:t>
            </a:r>
            <a:r>
              <a:rPr lang="en-US" dirty="0"/>
              <a:t>Code </a:t>
            </a:r>
            <a:r>
              <a:rPr lang="th-TH" dirty="0"/>
              <a:t>ต่อไป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011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4170636" y="2967335"/>
            <a:ext cx="38507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8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1799903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/>
              <a:t>MODEL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th-TH" dirty="0"/>
              <a:t>ใช้ในการแปลผลของข้อมูลไปสู่สิ่งที่ต้องการทราบ (เป็นการให้ความหมายแก่ข้อมูล)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VIEW</a:t>
            </a:r>
          </a:p>
          <a:p>
            <a:pPr>
              <a:buFontTx/>
              <a:buChar char="-"/>
            </a:pPr>
            <a:r>
              <a:rPr lang="th-TH" dirty="0"/>
              <a:t>เอาผลลัพธ์จากการแปลผลมาแสดง (เอาความหมายของข้อมูลมาแสดง)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CONTROLLER</a:t>
            </a:r>
          </a:p>
          <a:p>
            <a:pPr marL="0" indent="0">
              <a:buNone/>
            </a:pPr>
            <a:r>
              <a:rPr lang="en-US" dirty="0"/>
              <a:t>- </a:t>
            </a:r>
            <a:r>
              <a:rPr lang="th-TH" dirty="0"/>
              <a:t>รับข้อมูล แล้วเรียกใช้</a:t>
            </a:r>
            <a:r>
              <a:rPr lang="en-US" dirty="0"/>
              <a:t> logic </a:t>
            </a:r>
            <a:r>
              <a:rPr lang="th-TH" dirty="0"/>
              <a:t>ใน </a:t>
            </a:r>
            <a:r>
              <a:rPr lang="en-US" dirty="0"/>
              <a:t>model </a:t>
            </a:r>
            <a:r>
              <a:rPr lang="th-TH" dirty="0"/>
              <a:t>และส่งผลลัพธ์ไปแสดงที่ </a:t>
            </a:r>
            <a:r>
              <a:rPr lang="en-US" dirty="0"/>
              <a:t>VIEW </a:t>
            </a:r>
            <a:r>
              <a:rPr lang="th-TH" dirty="0"/>
              <a:t>(เป็นสื่อกลางระหว่าง </a:t>
            </a:r>
            <a:r>
              <a:rPr lang="en-US" dirty="0"/>
              <a:t>Model </a:t>
            </a:r>
            <a:r>
              <a:rPr lang="th-TH" dirty="0"/>
              <a:t>กับ </a:t>
            </a:r>
            <a:r>
              <a:rPr lang="en-US" dirty="0"/>
              <a:t>View</a:t>
            </a:r>
            <a:r>
              <a:rPr lang="th-TH" dirty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73580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4170636" y="2967335"/>
            <a:ext cx="385073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9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03704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GIT</a:t>
            </a:r>
            <a:r>
              <a:rPr lang="th-TH" dirty="0"/>
              <a:t> เป็นเครื่องมือที่ใช้ทำ </a:t>
            </a:r>
            <a:r>
              <a:rPr lang="en-US" dirty="0"/>
              <a:t>Version Control </a:t>
            </a:r>
            <a:r>
              <a:rPr lang="th-TH" dirty="0"/>
              <a:t>ซึ่งสามารถช่วยให้ </a:t>
            </a:r>
            <a:r>
              <a:rPr lang="en-US" dirty="0"/>
              <a:t>Developer </a:t>
            </a:r>
            <a:r>
              <a:rPr lang="th-TH" dirty="0"/>
              <a:t>แต่ละคนสามารถแยกกันพัฒนา</a:t>
            </a:r>
            <a:r>
              <a:rPr lang="en-US" dirty="0"/>
              <a:t> Feature </a:t>
            </a:r>
            <a:r>
              <a:rPr lang="th-TH" dirty="0"/>
              <a:t>ของตัวเอง และสามารถทำให้สามารถตรวจสอบได้ว่า </a:t>
            </a:r>
          </a:p>
          <a:p>
            <a:pPr>
              <a:buFontTx/>
              <a:buChar char="-"/>
            </a:pPr>
            <a:r>
              <a:rPr lang="en-US" dirty="0"/>
              <a:t>Feature </a:t>
            </a:r>
            <a:r>
              <a:rPr lang="th-TH" dirty="0"/>
              <a:t>ไหนถูก </a:t>
            </a:r>
            <a:r>
              <a:rPr lang="en-US" dirty="0"/>
              <a:t>Update </a:t>
            </a:r>
            <a:r>
              <a:rPr lang="th-TH" dirty="0"/>
              <a:t>เข้าไปแล้วบ้าง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Update </a:t>
            </a:r>
            <a:r>
              <a:rPr lang="th-TH" dirty="0"/>
              <a:t>เมื่อไหร่ </a:t>
            </a:r>
            <a:endParaRPr lang="en-US" dirty="0"/>
          </a:p>
          <a:p>
            <a:pPr>
              <a:buFontTx/>
              <a:buChar char="-"/>
            </a:pPr>
            <a:r>
              <a:rPr lang="en-US" dirty="0"/>
              <a:t>Code </a:t>
            </a:r>
            <a:r>
              <a:rPr lang="th-TH" dirty="0"/>
              <a:t>เดิมก่อนการ </a:t>
            </a:r>
            <a:r>
              <a:rPr lang="en-US" dirty="0"/>
              <a:t>Update </a:t>
            </a:r>
            <a:r>
              <a:rPr lang="th-TH" dirty="0"/>
              <a:t>เป็นอย่างไร</a:t>
            </a:r>
            <a:endParaRPr lang="en-US" dirty="0"/>
          </a:p>
          <a:p>
            <a:pPr marL="0" indent="0">
              <a:buNone/>
            </a:pPr>
            <a:r>
              <a:rPr lang="th-TH" dirty="0"/>
              <a:t>และสามารถ </a:t>
            </a:r>
            <a:r>
              <a:rPr lang="en-US" dirty="0"/>
              <a:t>Rollback </a:t>
            </a:r>
            <a:r>
              <a:rPr lang="th-TH" dirty="0"/>
              <a:t>กลับไปใช้</a:t>
            </a:r>
            <a:r>
              <a:rPr lang="en-US" dirty="0"/>
              <a:t> Code </a:t>
            </a:r>
            <a:r>
              <a:rPr lang="th-TH" dirty="0"/>
              <a:t>ชุดเดิมก่อนการ </a:t>
            </a:r>
            <a:r>
              <a:rPr lang="en-US" dirty="0"/>
              <a:t>Update </a:t>
            </a:r>
            <a:r>
              <a:rPr lang="th-TH" dirty="0"/>
              <a:t>ได้อีกด้วย</a:t>
            </a:r>
          </a:p>
          <a:p>
            <a:pPr marL="0" indent="0">
              <a:buNone/>
            </a:pPr>
            <a:r>
              <a:rPr lang="th-TH" dirty="0"/>
              <a:t>เช่น </a:t>
            </a:r>
            <a:r>
              <a:rPr lang="en-US" dirty="0"/>
              <a:t>GITHUB, GITLAB, BITBUCKET</a:t>
            </a:r>
          </a:p>
        </p:txBody>
      </p:sp>
    </p:spTree>
    <p:extLst>
      <p:ext uri="{BB962C8B-B14F-4D97-AF65-F5344CB8AC3E}">
        <p14:creationId xmlns:p14="http://schemas.microsoft.com/office/powerpoint/2010/main" val="17164834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3987092" y="2967335"/>
            <a:ext cx="42178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10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4296630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10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Docker </a:t>
            </a:r>
            <a:r>
              <a:rPr lang="th-TH" dirty="0"/>
              <a:t>เป็นตัวจำลองสภาพแวดล้อมบนเครื่อง </a:t>
            </a:r>
            <a:r>
              <a:rPr lang="en-US" dirty="0"/>
              <a:t>Server</a:t>
            </a:r>
          </a:p>
        </p:txBody>
      </p:sp>
    </p:spTree>
    <p:extLst>
      <p:ext uri="{BB962C8B-B14F-4D97-AF65-F5344CB8AC3E}">
        <p14:creationId xmlns:p14="http://schemas.microsoft.com/office/powerpoint/2010/main" val="3328167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3987092" y="2967335"/>
            <a:ext cx="42178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11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42674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Composer </a:t>
            </a:r>
            <a:r>
              <a:rPr lang="th-TH" dirty="0"/>
              <a:t>ใช้ในการจัดการ </a:t>
            </a:r>
            <a:r>
              <a:rPr lang="en-US" dirty="0"/>
              <a:t>Package </a:t>
            </a:r>
            <a:r>
              <a:rPr lang="th-TH" dirty="0" err="1"/>
              <a:t>ต่างๆ</a:t>
            </a:r>
            <a:r>
              <a:rPr lang="th-TH" dirty="0"/>
              <a:t> ของ</a:t>
            </a:r>
            <a:r>
              <a:rPr lang="en-US" dirty="0"/>
              <a:t> PHP</a:t>
            </a:r>
            <a:r>
              <a:rPr lang="th-TH" dirty="0"/>
              <a:t> โดยจัดเก็บไว้บน </a:t>
            </a:r>
            <a:r>
              <a:rPr lang="en-US" dirty="0"/>
              <a:t>Packagist.org</a:t>
            </a:r>
          </a:p>
        </p:txBody>
      </p:sp>
    </p:spTree>
    <p:extLst>
      <p:ext uri="{BB962C8B-B14F-4D97-AF65-F5344CB8AC3E}">
        <p14:creationId xmlns:p14="http://schemas.microsoft.com/office/powerpoint/2010/main" val="2832747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3987092" y="2967335"/>
            <a:ext cx="42178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12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476704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SCSS </a:t>
            </a:r>
            <a:r>
              <a:rPr lang="th-TH" dirty="0"/>
              <a:t>เป็นรูปแบบภาษาที่ใช้ใน</a:t>
            </a:r>
            <a:r>
              <a:rPr lang="th-TH" dirty="0" err="1"/>
              <a:t>การทำ</a:t>
            </a:r>
            <a:r>
              <a:rPr lang="th-TH" dirty="0"/>
              <a:t>ให้ </a:t>
            </a:r>
            <a:r>
              <a:rPr lang="en-US" dirty="0"/>
              <a:t>CSS </a:t>
            </a:r>
            <a:r>
              <a:rPr lang="th-TH" dirty="0"/>
              <a:t>สามารถเขียน </a:t>
            </a:r>
            <a:r>
              <a:rPr lang="en-US" dirty="0"/>
              <a:t>Function </a:t>
            </a:r>
            <a:r>
              <a:rPr lang="th-TH" dirty="0"/>
              <a:t>ได้ ไม่ว่าจะเป็น </a:t>
            </a:r>
            <a:r>
              <a:rPr lang="en-US" dirty="0"/>
              <a:t>Loop, if else</a:t>
            </a:r>
            <a:endParaRPr lang="th-TH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th-TH" dirty="0"/>
              <a:t>สิ่งที่แตกต่างระหว่าง </a:t>
            </a:r>
            <a:r>
              <a:rPr lang="en-US" dirty="0"/>
              <a:t>SASS </a:t>
            </a:r>
            <a:r>
              <a:rPr lang="th-TH" dirty="0"/>
              <a:t>กับ </a:t>
            </a:r>
            <a:r>
              <a:rPr lang="en-US" dirty="0"/>
              <a:t>SCSS</a:t>
            </a:r>
          </a:p>
          <a:p>
            <a:pPr marL="0" indent="0">
              <a:buNone/>
            </a:pPr>
            <a:r>
              <a:rPr lang="en-US" dirty="0"/>
              <a:t>SASS </a:t>
            </a:r>
            <a:r>
              <a:rPr lang="th-TH" dirty="0"/>
              <a:t>เป็นรุ่นที่เกิดมาก่อน ไม่รองรับ </a:t>
            </a:r>
            <a:r>
              <a:rPr lang="en-US" dirty="0"/>
              <a:t>{} </a:t>
            </a:r>
            <a:r>
              <a:rPr lang="th-TH" dirty="0"/>
              <a:t>และ 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SCSS </a:t>
            </a:r>
            <a:r>
              <a:rPr lang="th-TH" dirty="0"/>
              <a:t>เป็นรุ่นที่เกิดมาทีหลัง จำเป็นต้องใช้ </a:t>
            </a:r>
            <a:r>
              <a:rPr lang="en-US" dirty="0"/>
              <a:t>{} </a:t>
            </a:r>
            <a:r>
              <a:rPr lang="th-TH" dirty="0"/>
              <a:t>ในการครอบคำสั่ง</a:t>
            </a:r>
            <a:r>
              <a:rPr lang="th-TH" dirty="0" err="1"/>
              <a:t>ต่างๆ</a:t>
            </a:r>
            <a:r>
              <a:rPr lang="th-TH" dirty="0"/>
              <a:t> และใช้ </a:t>
            </a:r>
            <a:r>
              <a:rPr lang="en-US" dirty="0"/>
              <a:t>; </a:t>
            </a:r>
            <a:r>
              <a:rPr lang="th-TH" dirty="0"/>
              <a:t>เพื่อแสดงว่าจบบรรทัด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0006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3987092" y="2967335"/>
            <a:ext cx="42178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13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109599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44078"/>
          </a:xfrm>
        </p:spPr>
        <p:txBody>
          <a:bodyPr/>
          <a:lstStyle/>
          <a:p>
            <a:pPr marL="0" indent="0">
              <a:buNone/>
            </a:pPr>
            <a:r>
              <a:rPr lang="th-TH" dirty="0"/>
              <a:t>ทุกคนเป็นคนเก่งที่มีความถนัดในแต่ละด้านไม่เหมือนกัน</a:t>
            </a:r>
          </a:p>
          <a:p>
            <a:r>
              <a:rPr lang="th-TH" dirty="0"/>
              <a:t>บางคนเก่งภาษาญี่ปุ่น</a:t>
            </a:r>
          </a:p>
          <a:p>
            <a:r>
              <a:rPr lang="th-TH" dirty="0"/>
              <a:t>บางคนเก่งฟิสิกส์</a:t>
            </a:r>
          </a:p>
          <a:p>
            <a:r>
              <a:rPr lang="th-TH" dirty="0"/>
              <a:t>บางคนเก่งงานฝีมือ</a:t>
            </a:r>
          </a:p>
          <a:p>
            <a:r>
              <a:rPr lang="th-TH" dirty="0"/>
              <a:t>บางคนเก่งเรื่องรถยนต์</a:t>
            </a:r>
          </a:p>
          <a:p>
            <a:r>
              <a:rPr lang="th-TH" dirty="0"/>
              <a:t>บางคนถนัดคำนวณ</a:t>
            </a:r>
          </a:p>
          <a:p>
            <a:r>
              <a:rPr lang="th-TH" dirty="0"/>
              <a:t>ฯลฯ</a:t>
            </a:r>
          </a:p>
        </p:txBody>
      </p:sp>
    </p:spTree>
    <p:extLst>
      <p:ext uri="{BB962C8B-B14F-4D97-AF65-F5344CB8AC3E}">
        <p14:creationId xmlns:p14="http://schemas.microsoft.com/office/powerpoint/2010/main" val="3234299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3987092" y="2967335"/>
            <a:ext cx="42178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14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44296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ไม่เคย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1490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3987092" y="2967335"/>
            <a:ext cx="42178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15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718725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ยังไม่เคยใช้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90466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3987092" y="2967335"/>
            <a:ext cx="42178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16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723590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th-TH" dirty="0"/>
              <a:t>เป็นเครื่องมือช่วยวัดความเร็วในการ </a:t>
            </a:r>
            <a:r>
              <a:rPr lang="en-US" dirty="0"/>
              <a:t>Load </a:t>
            </a:r>
            <a:r>
              <a:rPr lang="th-TH" dirty="0"/>
              <a:t>หน้า </a:t>
            </a:r>
            <a:r>
              <a:rPr lang="en-US" dirty="0"/>
              <a:t>Website</a:t>
            </a:r>
          </a:p>
        </p:txBody>
      </p:sp>
    </p:spTree>
    <p:extLst>
      <p:ext uri="{BB962C8B-B14F-4D97-AF65-F5344CB8AC3E}">
        <p14:creationId xmlns:p14="http://schemas.microsoft.com/office/powerpoint/2010/main" val="350286242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331EFDF-6CE4-4089-9DF9-971D2E016DB5}"/>
              </a:ext>
            </a:extLst>
          </p:cNvPr>
          <p:cNvSpPr/>
          <p:nvPr/>
        </p:nvSpPr>
        <p:spPr>
          <a:xfrm>
            <a:off x="3987092" y="2967335"/>
            <a:ext cx="42178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QUESTION 17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518585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F8BA-DCEF-4820-8C9D-226A2E784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ANSWER 17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F52446-2CAB-4DCA-9735-09E64C4E9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444286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On-page SEO </a:t>
            </a:r>
            <a:r>
              <a:rPr lang="th-TH" b="1" dirty="0"/>
              <a:t>คือ</a:t>
            </a:r>
            <a:r>
              <a:rPr lang="th-TH" dirty="0"/>
              <a:t> การปรับแต่งคอนเทนต์บนหน้าเว็บเพจหรือบนเว็บไซต์ให้เหมาะสมและง่ายต่อทั้งผู้ใช้งานเว็บไซต์และตัว </a:t>
            </a:r>
            <a:r>
              <a:rPr lang="en-US" dirty="0"/>
              <a:t>Search Algorithm </a:t>
            </a:r>
            <a:r>
              <a:rPr lang="th-TH" dirty="0"/>
              <a:t>เพื่อบอกว่าหน้าเว็บเกี่ยวข้องกับอะไร กำลังกล่าวถึงสิ่งใดอยู่</a:t>
            </a:r>
          </a:p>
          <a:p>
            <a:pPr marL="0" indent="0">
              <a:buNone/>
            </a:pPr>
            <a:r>
              <a:rPr lang="th-TH" dirty="0"/>
              <a:t>ตัวอย่างการปรับแต่งได้แก่</a:t>
            </a:r>
          </a:p>
          <a:p>
            <a:pPr>
              <a:buFontTx/>
              <a:buChar char="-"/>
            </a:pPr>
            <a:r>
              <a:rPr lang="th-TH" dirty="0"/>
              <a:t>แก้ไข </a:t>
            </a:r>
            <a:r>
              <a:rPr lang="en-US" dirty="0"/>
              <a:t>Broken Internal Link</a:t>
            </a:r>
          </a:p>
          <a:p>
            <a:pPr>
              <a:buFontTx/>
              <a:buChar char="-"/>
            </a:pPr>
            <a:r>
              <a:rPr lang="th-TH" dirty="0"/>
              <a:t>ตั้งชื่อ </a:t>
            </a:r>
            <a:r>
              <a:rPr lang="en-US" dirty="0"/>
              <a:t>File </a:t>
            </a:r>
            <a:r>
              <a:rPr lang="th-TH" dirty="0"/>
              <a:t>ให้ครบ</a:t>
            </a:r>
          </a:p>
          <a:p>
            <a:pPr>
              <a:buFontTx/>
              <a:buChar char="-"/>
            </a:pPr>
            <a:r>
              <a:rPr lang="en-US" dirty="0"/>
              <a:t>URL </a:t>
            </a:r>
            <a:r>
              <a:rPr lang="th-TH" dirty="0"/>
              <a:t>อ่านแล้วเข้าใจง่าย</a:t>
            </a:r>
          </a:p>
          <a:p>
            <a:pPr>
              <a:buFontTx/>
              <a:buChar char="-"/>
            </a:pPr>
            <a:r>
              <a:rPr lang="th-TH" dirty="0"/>
              <a:t>รูปต้องมีทั้ง </a:t>
            </a:r>
            <a:r>
              <a:rPr lang="en-US" dirty="0"/>
              <a:t>Title </a:t>
            </a:r>
            <a:r>
              <a:rPr lang="th-TH" dirty="0"/>
              <a:t>และ </a:t>
            </a:r>
            <a:r>
              <a:rPr lang="en-US" dirty="0"/>
              <a:t>alt</a:t>
            </a:r>
            <a:endParaRPr lang="th-TH" dirty="0"/>
          </a:p>
          <a:p>
            <a:pPr>
              <a:buFontTx/>
              <a:buChar char="-"/>
            </a:pPr>
            <a:r>
              <a:rPr lang="th-TH" dirty="0"/>
              <a:t>ฯลฯ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383677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267</TotalTime>
  <Words>941</Words>
  <Application>Microsoft Office PowerPoint</Application>
  <PresentationFormat>Widescreen</PresentationFormat>
  <Paragraphs>145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5" baseType="lpstr">
      <vt:lpstr>Arial</vt:lpstr>
      <vt:lpstr>Tw Cen MT</vt:lpstr>
      <vt:lpstr>Circuit</vt:lpstr>
      <vt:lpstr>SHIPPOP TEST 2 : Q.2 – Q.3 ,Q.5 – Q.17</vt:lpstr>
      <vt:lpstr>PowerPoint Presentation</vt:lpstr>
      <vt:lpstr>Answer (2.1)</vt:lpstr>
      <vt:lpstr>Answer (2.2.1)</vt:lpstr>
      <vt:lpstr>Answer (2.2.2)</vt:lpstr>
      <vt:lpstr>PowerPoint Presentation</vt:lpstr>
      <vt:lpstr>Answer (3.1)</vt:lpstr>
      <vt:lpstr>Answer (3.2.1)</vt:lpstr>
      <vt:lpstr>Answer (3.2.2)</vt:lpstr>
      <vt:lpstr>PowerPoint Presentation</vt:lpstr>
      <vt:lpstr>Answer (5.1)</vt:lpstr>
      <vt:lpstr>Answer (5.2)</vt:lpstr>
      <vt:lpstr>Answer (5.3)</vt:lpstr>
      <vt:lpstr>Answer (5.4)</vt:lpstr>
      <vt:lpstr>Answer (5.5)</vt:lpstr>
      <vt:lpstr>Answer (5.6)</vt:lpstr>
      <vt:lpstr>ANSWER 5.7</vt:lpstr>
      <vt:lpstr>ANSWER 5.8</vt:lpstr>
      <vt:lpstr>PowerPoint Presentation</vt:lpstr>
      <vt:lpstr>ANSWER 6</vt:lpstr>
      <vt:lpstr>PowerPoint Presentation</vt:lpstr>
      <vt:lpstr>ANSWER 7</vt:lpstr>
      <vt:lpstr>PowerPoint Presentation</vt:lpstr>
      <vt:lpstr>ANSWER 8</vt:lpstr>
      <vt:lpstr>PowerPoint Presentation</vt:lpstr>
      <vt:lpstr>ANSWER 9</vt:lpstr>
      <vt:lpstr>PowerPoint Presentation</vt:lpstr>
      <vt:lpstr>ANSWER 10</vt:lpstr>
      <vt:lpstr>PowerPoint Presentation</vt:lpstr>
      <vt:lpstr>ANSWER 11</vt:lpstr>
      <vt:lpstr>PowerPoint Presentation</vt:lpstr>
      <vt:lpstr>ANSWER 12</vt:lpstr>
      <vt:lpstr>PowerPoint Presentation</vt:lpstr>
      <vt:lpstr>ANSWER 13</vt:lpstr>
      <vt:lpstr>PowerPoint Presentation</vt:lpstr>
      <vt:lpstr>ANSWER 14</vt:lpstr>
      <vt:lpstr>PowerPoint Presentation</vt:lpstr>
      <vt:lpstr>ANSWER 15</vt:lpstr>
      <vt:lpstr>PowerPoint Presentation</vt:lpstr>
      <vt:lpstr>ANSWER 16</vt:lpstr>
      <vt:lpstr>PowerPoint Presentation</vt:lpstr>
      <vt:lpstr>ANSWER 17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SHIPPOP TEST 2 : Q.5 – Q.17</dc:title>
  <dc:creator>User</dc:creator>
  <cp:lastModifiedBy>User</cp:lastModifiedBy>
  <cp:revision>17</cp:revision>
  <dcterms:created xsi:type="dcterms:W3CDTF">2020-07-21T14:19:10Z</dcterms:created>
  <dcterms:modified xsi:type="dcterms:W3CDTF">2020-07-23T13:58:42Z</dcterms:modified>
</cp:coreProperties>
</file>